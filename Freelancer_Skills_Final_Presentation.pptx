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8"/>
  </p:normalViewPr>
  <p:slideViewPr>
    <p:cSldViewPr snapToGrid="0" snapToObjects="1">
      <p:cViewPr varScale="1">
        <p:scale>
          <a:sx n="163" d="100"/>
          <a:sy n="163" d="100"/>
        </p:scale>
        <p:origin x="19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aistashahid/freelancer-income-vs-skills/data" TargetMode="External"/><Relationship Id="rId2" Type="http://schemas.openxmlformats.org/officeDocument/2006/relationships/hyperlink" Target="https://github.com/Abkhan45/freelancer_income_vs_skills.gi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Freelancer Skills &amp; Earnings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216963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 dirty="0"/>
              <a:t>Name: Ahmad Bilal (23114900)</a:t>
            </a:r>
          </a:p>
          <a:p>
            <a:r>
              <a:rPr lang="en-GB" sz="2100" dirty="0"/>
              <a:t>MSc Data Science– University of Hertfordshire</a:t>
            </a:r>
          </a:p>
          <a:p>
            <a:endParaRPr lang="en-GB" sz="2100" dirty="0"/>
          </a:p>
          <a:p>
            <a:r>
              <a:rPr lang="en-GB" sz="2100" dirty="0"/>
              <a:t>GitHub: </a:t>
            </a:r>
            <a:r>
              <a:rPr lang="en-GB" sz="2100" dirty="0">
                <a:hlinkClick r:id="rId2"/>
              </a:rPr>
              <a:t>https://github.com/Abkhan45/freelancer_income_vs_skills.git</a:t>
            </a:r>
            <a:endParaRPr lang="en-GB" sz="2100" dirty="0"/>
          </a:p>
          <a:p>
            <a:r>
              <a:rPr lang="en-GB" sz="2100" dirty="0"/>
              <a:t>Dataset: </a:t>
            </a:r>
            <a:r>
              <a:rPr lang="en-GB" sz="2100" dirty="0">
                <a:hlinkClick r:id="rId3"/>
              </a:rPr>
              <a:t>https://www.kaggle.com/datasets/shaistashahid/freelancer-income-vs-skills/data</a:t>
            </a:r>
            <a:endParaRPr lang="en-GB" sz="2100" dirty="0"/>
          </a:p>
          <a:p>
            <a:endParaRPr lang="en-GB" sz="2100" dirty="0"/>
          </a:p>
          <a:p>
            <a:endParaRPr lang="en-GB" sz="2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Research Questions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Which skills are most popular?</a:t>
            </a:r>
          </a:p>
          <a:p>
            <a:pPr lvl="1"/>
            <a:r>
              <a:rPr lang="en-GB" sz="2100"/>
              <a:t>Which skills generate highest earnings?</a:t>
            </a:r>
          </a:p>
          <a:p>
            <a:pPr lvl="1"/>
            <a:r>
              <a:rPr lang="en-GB" sz="2100"/>
              <a:t>Can ML predict hourly rate?</a:t>
            </a:r>
          </a:p>
          <a:p>
            <a:pPr lvl="1"/>
            <a:r>
              <a:rPr lang="en-GB" sz="2100"/>
              <a:t>Identify strongest income-driving features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0FBC1-4C4A-91F0-48AF-519B1279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 b="1" dirty="0"/>
              <a:t>Ethical Considerations</a:t>
            </a:r>
            <a:endParaRPr lang="en-US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69EE2-2179-7DF9-7841-D02598130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 dirty="0"/>
              <a:t>The dataset contains no Personally Identifiable Information (PII)</a:t>
            </a:r>
          </a:p>
          <a:p>
            <a:r>
              <a:rPr lang="en-GB" sz="2100" dirty="0"/>
              <a:t>No names, emails, phone numbers, or private identifiers</a:t>
            </a:r>
          </a:p>
          <a:p>
            <a:r>
              <a:rPr lang="en-GB" sz="2100" dirty="0"/>
              <a:t>Data is aggregated and non-sensitive</a:t>
            </a:r>
          </a:p>
          <a:p>
            <a:r>
              <a:rPr lang="en-GB" sz="2100" dirty="0"/>
              <a:t>No individual can be identified from the dataset</a:t>
            </a:r>
          </a:p>
          <a:p>
            <a:endParaRPr lang="en-US" sz="2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29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Relevance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Growth of gig economy</a:t>
            </a:r>
          </a:p>
          <a:p>
            <a:pPr lvl="1"/>
            <a:r>
              <a:rPr lang="en-GB" sz="2100"/>
              <a:t>Skill-based income forecasting</a:t>
            </a:r>
          </a:p>
          <a:p>
            <a:pPr lvl="1"/>
            <a:r>
              <a:rPr lang="en-GB" sz="2100"/>
              <a:t>Data-driven career planning</a:t>
            </a:r>
          </a:p>
          <a:p>
            <a:pPr lvl="1"/>
            <a:r>
              <a:rPr lang="en-GB" sz="2100"/>
              <a:t>Commercial &amp; societal relevance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Data Processing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Converted income to numeric format</a:t>
            </a:r>
          </a:p>
          <a:p>
            <a:pPr lvl="1"/>
            <a:r>
              <a:rPr lang="en-GB" sz="2100"/>
              <a:t>Exploded multi-skill column</a:t>
            </a:r>
          </a:p>
          <a:p>
            <a:pPr lvl="1"/>
            <a:r>
              <a:rPr lang="en-GB" sz="2100"/>
              <a:t>Created skill_count feature</a:t>
            </a:r>
          </a:p>
          <a:p>
            <a:pPr lvl="1"/>
            <a:r>
              <a:rPr lang="en-GB" sz="2100"/>
              <a:t>Handled missing values</a:t>
            </a:r>
          </a:p>
          <a:p>
            <a:pPr lvl="1"/>
            <a:r>
              <a:rPr lang="en-GB" sz="2100"/>
              <a:t>Prevented data leakage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Distribution of earnings</a:t>
            </a:r>
          </a:p>
          <a:p>
            <a:pPr lvl="1"/>
            <a:r>
              <a:rPr lang="en-GB" sz="2100"/>
              <a:t>Experience vs hourly rate</a:t>
            </a:r>
          </a:p>
          <a:p>
            <a:pPr lvl="1"/>
            <a:r>
              <a:rPr lang="en-GB" sz="2100"/>
              <a:t>Categorical variable analysis</a:t>
            </a:r>
          </a:p>
          <a:p>
            <a:pPr lvl="1"/>
            <a:r>
              <a:rPr lang="en-GB" sz="2100"/>
              <a:t>Skill popularity ranking</a:t>
            </a:r>
          </a:p>
          <a:p>
            <a:pPr lvl="1"/>
            <a:r>
              <a:rPr lang="en-GB" sz="2100"/>
              <a:t>High-paying skill identification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Years of experience (scaled)</a:t>
            </a:r>
          </a:p>
          <a:p>
            <a:pPr lvl="1"/>
            <a:r>
              <a:rPr lang="en-GB" sz="2100"/>
              <a:t>Region, country (OneHot encoding)</a:t>
            </a:r>
          </a:p>
          <a:p>
            <a:pPr lvl="1"/>
            <a:r>
              <a:rPr lang="en-GB" sz="2100"/>
              <a:t>Experience level &amp; education</a:t>
            </a:r>
          </a:p>
          <a:p>
            <a:pPr lvl="1"/>
            <a:r>
              <a:rPr lang="en-GB" sz="2100"/>
              <a:t>Top-N multi-hot skill encoding</a:t>
            </a:r>
          </a:p>
          <a:p>
            <a:pPr lvl="1"/>
            <a:r>
              <a:rPr lang="en-GB" sz="2100"/>
              <a:t>Pipeline-based preprocessing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Ridge Regression (baseline)</a:t>
            </a:r>
          </a:p>
          <a:p>
            <a:pPr lvl="1"/>
            <a:r>
              <a:rPr lang="en-GB" sz="2100"/>
              <a:t>Random Forest Regressor</a:t>
            </a:r>
          </a:p>
          <a:p>
            <a:pPr lvl="1"/>
            <a:r>
              <a:rPr lang="en-GB" sz="2100"/>
              <a:t>Gradient Boosting Regressor</a:t>
            </a:r>
          </a:p>
          <a:p>
            <a:pPr lvl="1"/>
            <a:r>
              <a:rPr lang="en-GB" sz="2100"/>
              <a:t>Train/Test split validation</a:t>
            </a:r>
          </a:p>
          <a:p>
            <a:pPr lvl="1"/>
            <a:r>
              <a:rPr lang="en-GB" sz="2100"/>
              <a:t>Evaluated with MAE, RMSE, R²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Gradient Boosting performed best</a:t>
            </a:r>
          </a:p>
          <a:p>
            <a:pPr lvl="1"/>
            <a:r>
              <a:rPr lang="en-GB" sz="2100"/>
              <a:t>Lowest MAE &amp; RMSE</a:t>
            </a:r>
          </a:p>
          <a:p>
            <a:pPr lvl="1"/>
            <a:r>
              <a:rPr lang="en-GB" sz="2100"/>
              <a:t>Highest R² score</a:t>
            </a:r>
          </a:p>
          <a:p>
            <a:pPr lvl="1"/>
            <a:r>
              <a:rPr lang="en-GB" sz="2100"/>
              <a:t>Confirms non-linear income relationships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Top Features Influencing 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Years of experience</a:t>
            </a:r>
          </a:p>
          <a:p>
            <a:pPr lvl="1"/>
            <a:r>
              <a:rPr lang="en-GB" sz="2100"/>
              <a:t>Region (Western Europe, North America)</a:t>
            </a:r>
          </a:p>
          <a:p>
            <a:pPr lvl="1"/>
            <a:r>
              <a:rPr lang="en-GB" sz="2100"/>
              <a:t>Country (US, Australia, Switzerland)</a:t>
            </a:r>
          </a:p>
          <a:p>
            <a:pPr lvl="1"/>
            <a:r>
              <a:rPr lang="en-GB" sz="2100"/>
              <a:t>Senior experience level</a:t>
            </a:r>
          </a:p>
          <a:p>
            <a:pPr lvl="1"/>
            <a:r>
              <a:rPr lang="en-GB" sz="2100"/>
              <a:t>High-tech categories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Top High-Value Skills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 dirty="0"/>
              <a:t>Cryptography</a:t>
            </a:r>
          </a:p>
          <a:p>
            <a:r>
              <a:rPr lang="en-GB" sz="2100" dirty="0"/>
              <a:t>Computer Vision</a:t>
            </a:r>
          </a:p>
          <a:p>
            <a:r>
              <a:rPr lang="en-GB" sz="2100" dirty="0"/>
              <a:t>DeFi &amp; Web3</a:t>
            </a:r>
          </a:p>
          <a:p>
            <a:r>
              <a:rPr lang="en-GB" sz="2100" dirty="0"/>
              <a:t>Network Security</a:t>
            </a:r>
          </a:p>
          <a:p>
            <a:r>
              <a:rPr lang="en-GB" sz="2100" dirty="0"/>
              <a:t>NLP &amp; AI</a:t>
            </a:r>
          </a:p>
          <a:p>
            <a:r>
              <a:rPr lang="en-GB" sz="2100" dirty="0"/>
              <a:t>Smart Contracts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Societal &amp; Commercial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Guides freelancers toward profitable skills</a:t>
            </a:r>
          </a:p>
          <a:p>
            <a:pPr lvl="1"/>
            <a:r>
              <a:rPr lang="en-GB" sz="2100"/>
              <a:t>Supports strategic upskilling</a:t>
            </a:r>
          </a:p>
          <a:p>
            <a:pPr lvl="1"/>
            <a:r>
              <a:rPr lang="en-GB" sz="2100"/>
              <a:t>Applicable to freelance platforms</a:t>
            </a:r>
          </a:p>
          <a:p>
            <a:pPr lvl="1"/>
            <a:r>
              <a:rPr lang="en-GB" sz="2100"/>
              <a:t>Scalable ML deployment potential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Specialised skills drive higher income</a:t>
            </a:r>
          </a:p>
          <a:p>
            <a:pPr lvl="1"/>
            <a:r>
              <a:rPr lang="en-GB" sz="2100"/>
              <a:t>Experience strongly impacts earnings</a:t>
            </a:r>
          </a:p>
          <a:p>
            <a:pPr lvl="1"/>
            <a:r>
              <a:rPr lang="en-GB" sz="2100"/>
              <a:t>Ensemble models outperform linear models</a:t>
            </a:r>
          </a:p>
          <a:p>
            <a:pPr lvl="1"/>
            <a:r>
              <a:rPr lang="en-GB" sz="2100"/>
              <a:t>Data-driven skill strategy improves success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328</Words>
  <Application>Microsoft Macintosh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Freelancer Skills &amp; Earnings Analysis</vt:lpstr>
      <vt:lpstr>Research Questions &amp; Objectives</vt:lpstr>
      <vt:lpstr>Ethical Considerations</vt:lpstr>
      <vt:lpstr>Relevance &amp; Motivation</vt:lpstr>
      <vt:lpstr>Data Processing &amp; Cleaning</vt:lpstr>
      <vt:lpstr>Exploratory Data Analysis</vt:lpstr>
      <vt:lpstr>Feature Engineering</vt:lpstr>
      <vt:lpstr>Models Used</vt:lpstr>
      <vt:lpstr>Model Results</vt:lpstr>
      <vt:lpstr>Top Features Influencing Earnings</vt:lpstr>
      <vt:lpstr>Top High-Value Skills Identified</vt:lpstr>
      <vt:lpstr>Societal &amp; Commercial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 Riaz [Student-PECS]</cp:lastModifiedBy>
  <cp:revision>8</cp:revision>
  <dcterms:created xsi:type="dcterms:W3CDTF">2013-01-27T09:14:16Z</dcterms:created>
  <dcterms:modified xsi:type="dcterms:W3CDTF">2026-02-24T10:34:19Z</dcterms:modified>
  <cp:category/>
</cp:coreProperties>
</file>